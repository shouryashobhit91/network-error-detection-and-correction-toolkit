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Default Extension="png" ContentType="image/png"/>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varScale="1">
        <p:scale>
          <a:sx n="82" d="100"/>
          <a:sy n="82" d="100"/>
        </p:scale>
        <p:origin x="-1474" y="-91"/>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15 seconds. Introduce the group and the project title: a C++ toolkit that lets a user enter data, introduce errors and compare parity, checksum, CRC and Hamming codes.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40 seconds. Every link adds redundant bits so the receiver can detect or correct errors. The toolkit shows the behaviour bit by bit and measures it over a real UDP transfer. Scope: nine codes, four error models (chosen bits, random bits, bursts, bit error rate), loopback or two to three lab 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45 seconds. The sender encodes each frame with the chosen code and sends it to the channel emulator, which flips bits (random or burst), drops and delays datagrams and writes a pcap file. The receiver decodes, corrects if it can, and answers ACK or NAK. UDP was chosen so that TCP does not hide the errors with its own checksum and retransmission.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55 seconds. The frame header carries type, code, sequence number, data length and codeword length, protected by its own CRC-16. The FIN frame carries the SHA-256 of the file so the receiver can tell whether undetected errors reached the application. Issue found in testing: CRC-8 (x^8+x^2+x+1) cannot see two errors 127 bits apart, so it is only reliable on short frames; the test now uses a 72-bit frame and the limit is documented.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50 seconds. The table is the real output of edc_toolkit compare. Single parity accepted every frame with two errors, the checksum missed 1.8 %, the CRCs missed none. Hamming (7,4) corrected 94 % because the two errors usually fall in different blocks. Over the network at BER 1e-3, SEC-DED delivered the file intact with almost twice the goodput of CRC-32 with retransmission. All 24 tests passed in 37 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65 seconds. Terminal 1: edc_receiver --port 9100 --out received.txt. Terminal 2: edc_channel --listen 9101 --server 127.0.0.1:9100 --ber 3e-4 --delay 1. Terminal 3: edc_toolkit inject --text "HELLO" --scheme hamming --flip 9 (corrected), then edc_sender sample_files/message.txt --port 9101 --scheme crc32 (NAKs, file identical) and --scheme parity (file corrupted). Open the capture with the edc_frame.lua dissector.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30 seconds. CRC-16 and CRC-32 never accepted a wrong 64-byte frame; single parity and plain Hamming (7,4) delivered corrupted files at BER 1e-3; correction pays off at moderate error rates only when the code can also detect its own failures (SEC-DED). Replace the bracketed names with the real members and their actual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slide. Full reference list (nine entries) is in the project report.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xmlns="" id="{583E6C0E-ADFD-47F0-B7F1-423099F447C9}"/>
              </a:ext>
            </a:extLst>
          </p:cNvPr>
          <p:cNvSpPr>
            <a:spLocks noGrp="1"/>
          </p:cNvSpPr>
          <p:nvPr>
            <p:ph type="title"/>
          </p:nvPr>
        </p:nvSpPr>
        <p:spPr>
          <a:xfrm>
            <a:off x="914400" y="2590800"/>
            <a:ext cx="7315200" cy="990600"/>
          </a:xfrm>
          <a:prstGeom prst="rect">
            <a:avLst/>
          </a:prstGeom>
          <a:noFill/>
          <a:ln>
            <a:noFill/>
            <a:prstDash val="solid"/>
          </a:ln>
        </p:spPr>
        <p:txBody>
          <a:bodyPr wrap="square" lIns="0" tIns="0" rIns="0" bIns="0" anchor="ctr">
            <a:normAutofit/>
          </a:bodyPr>
          <a:lstStyle>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xmlns="" id="{33EB337C-CD4A-4141-BBA0-4CF2780ADDB0}"/>
              </a:ext>
            </a:extLst>
          </p:cNvPr>
          <p:cNvSpPr>
            <a:spLocks noGrp="1"/>
          </p:cNvSpPr>
          <p:nvPr>
            <p:ph type="subTitle" idx="1"/>
          </p:nvPr>
        </p:nvSpPr>
        <p:spPr>
          <a:xfrm>
            <a:off x="1371600" y="3771900"/>
            <a:ext cx="6400800" cy="762000"/>
          </a:xfrm>
          <a:prstGeom prst="rect">
            <a:avLst/>
          </a:prstGeom>
          <a:noFill/>
          <a:ln>
            <a:noFill/>
            <a:prstDash val="solid"/>
          </a:ln>
        </p:spPr>
        <p:txBody>
          <a:bodyPr wrap="square" lIns="0" tIns="0" rIns="0" bIns="0" anchor="ctr">
            <a:normAutofit/>
          </a:bodyPr>
          <a:lstStyle>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xmlns="" id="{E0CEB062-0151-4898-8FC4-ABE35F2CF9F4}"/>
              </a:ext>
            </a:extLst>
          </p:cNvPr>
          <p:cNvSpPr>
            <a:spLocks noGrp="1"/>
          </p:cNvSpPr>
          <p:nvPr>
            <p:ph type="title"/>
          </p:nvPr>
        </p:nvSpPr>
        <p:spPr>
          <a:xfrm>
            <a:off x="914400" y="2857500"/>
            <a:ext cx="7315200" cy="1143000"/>
          </a:xfrm>
          <a:prstGeom prst="rect">
            <a:avLst/>
          </a:prstGeom>
          <a:noFill/>
          <a:ln>
            <a:noFill/>
            <a:prstDash val="solid"/>
          </a:ln>
        </p:spPr>
        <p:txBody>
          <a:bodyPr wrap="square" lIns="0" tIns="0" rIns="0" bIns="0" anchor="ctr">
            <a:normAutofit/>
          </a:bodyPr>
          <a:lstStyle>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xmlns="" id="{6C25DF88-F753-4FDF-A6BB-A67DF0BF4059}"/>
              </a:ext>
            </a:extLst>
          </p:cNvPr>
          <p:cNvSpPr>
            <a:spLocks noGrp="1"/>
          </p:cNvSpPr>
          <p:nvPr>
            <p:ph type="title"/>
          </p:nvPr>
        </p:nvSpPr>
        <p:spPr>
          <a:xfrm>
            <a:off x="514350" y="533400"/>
            <a:ext cx="8115300" cy="838200"/>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xmlns="" id="{D508D27C-B9C0-4675-8275-8B25BF40CA10}"/>
              </a:ext>
            </a:extLst>
          </p:cNvPr>
          <p:cNvSpPr>
            <a:spLocks noGrp="1"/>
          </p:cNvSpPr>
          <p:nvPr>
            <p:ph type="body" idx="1"/>
          </p:nvPr>
        </p:nvSpPr>
        <p:spPr>
          <a:xfrm>
            <a:off x="514350" y="1905000"/>
            <a:ext cx="8115300" cy="4267200"/>
          </a:xfrm>
          <a:prstGeom prst="rect">
            <a:avLst/>
          </a:prstGeom>
          <a:noFill/>
          <a:ln>
            <a:noFill/>
            <a:prstDash val="solid"/>
          </a:ln>
        </p:spPr>
        <p:txBody>
          <a:bodyPr wrap="square" lIns="0" tIns="0" rIns="0" bIns="0" anchor="t">
            <a:normAutofit/>
          </a:bodyPr>
          <a:lstStyle>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xmlns="" id="{700FAA36-2918-458A-BCC9-C02C5C86FD4A}"/>
              </a:ext>
            </a:extLst>
          </p:cNvPr>
          <p:cNvSpPr>
            <a:spLocks noGrp="1"/>
          </p:cNvSpPr>
          <p:nvPr>
            <p:ph type="title"/>
          </p:nvPr>
        </p:nvSpPr>
        <p:spPr>
          <a:xfrm>
            <a:off x="514350" y="533400"/>
            <a:ext cx="8115300" cy="838200"/>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xmlns="" id="{B3166FA6-9A32-40D5-BFFD-76D047ADC2B8}"/>
              </a:ext>
            </a:extLst>
          </p:cNvPr>
          <p:cNvSpPr>
            <a:spLocks noGrp="1"/>
          </p:cNvSpPr>
          <p:nvPr>
            <p:ph type="body" idx="1"/>
          </p:nvPr>
        </p:nvSpPr>
        <p:spPr>
          <a:xfrm>
            <a:off x="514350" y="1905000"/>
            <a:ext cx="3771900" cy="4267200"/>
          </a:xfrm>
          <a:prstGeom prst="rect">
            <a:avLst/>
          </a:prstGeom>
          <a:noFill/>
          <a:ln>
            <a:noFill/>
            <a:prstDash val="solid"/>
          </a:ln>
        </p:spPr>
        <p:txBody>
          <a:bodyPr wrap="square" lIns="0" tIns="0" rIns="0" bIns="0" anchor="t">
            <a:normAutofit/>
          </a:bodyPr>
          <a:lstStyle>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a:endParaRPr/>
          </a:p>
        </p:txBody>
      </p:sp>
      <p:sp>
        <p:nvSpPr>
          <p:cNvPr id="3" name="Right column">
            <a:extLst>
              <a:ext uri="{FF2B5EF4-FFF2-40B4-BE49-F238E27FC236}">
                <a16:creationId xmlns:a16="http://schemas.microsoft.com/office/drawing/2014/main" xmlns="" id="{663F08DB-F5FB-439D-8043-D5B97093E1E5}"/>
              </a:ext>
            </a:extLst>
          </p:cNvPr>
          <p:cNvSpPr>
            <a:spLocks noGrp="1"/>
          </p:cNvSpPr>
          <p:nvPr>
            <p:ph type="body" idx="2"/>
          </p:nvPr>
        </p:nvSpPr>
        <p:spPr>
          <a:xfrm>
            <a:off x="4857750" y="1905000"/>
            <a:ext cx="3771900" cy="4267200"/>
          </a:xfrm>
          <a:prstGeom prst="rect">
            <a:avLst/>
          </a:prstGeom>
          <a:noFill/>
          <a:ln>
            <a:noFill/>
            <a:prstDash val="solid"/>
          </a:ln>
        </p:spPr>
        <p:txBody>
          <a:bodyPr wrap="square" lIns="0" tIns="0" rIns="0" bIns="0" anchor="t">
            <a:normAutofit/>
          </a:bodyPr>
          <a:lstStyle>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xmlns="" id="{43733861-E5E8-4C0E-85FF-C9C377F03DE1}"/>
              </a:ext>
            </a:extLst>
          </p:cNvPr>
          <p:cNvSpPr>
            <a:spLocks noGrp="1"/>
          </p:cNvSpPr>
          <p:nvPr>
            <p:ph type="title"/>
          </p:nvPr>
        </p:nvSpPr>
        <p:spPr>
          <a:xfrm>
            <a:off x="514350" y="533400"/>
            <a:ext cx="8115300" cy="838200"/>
          </a:xfrm>
          <a:prstGeom prst="rect">
            <a:avLst/>
          </a:prstGeom>
          <a:noFill/>
          <a:ln>
            <a:noFill/>
            <a:prstDash val="solid"/>
          </a:ln>
        </p:spPr>
        <p:txBody>
          <a:bodyPr wrap="square" lIns="0" tIns="0" rIns="0" bIns="0" anchor="t">
            <a:normAutofit/>
          </a:bodyPr>
          <a:lstStyle>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xmlns="" id="{D218B774-926B-4AA9-BD18-2D17BAA20793}"/>
              </a:ext>
            </a:extLst>
          </p:cNvPr>
          <p:cNvSpPr>
            <a:spLocks noGrp="1"/>
          </p:cNvSpPr>
          <p:nvPr>
            <p:ph type="body" idx="1"/>
          </p:nvPr>
        </p:nvSpPr>
        <p:spPr>
          <a:xfrm>
            <a:off x="514350" y="1905000"/>
            <a:ext cx="3771900" cy="4267200"/>
          </a:xfrm>
          <a:prstGeom prst="rect">
            <a:avLst/>
          </a:prstGeom>
          <a:noFill/>
          <a:ln>
            <a:noFill/>
            <a:prstDash val="solid"/>
          </a:ln>
        </p:spPr>
        <p:txBody>
          <a:bodyPr wrap="square" lIns="0" tIns="0" rIns="0" bIns="0" anchor="t">
            <a:normAutofit/>
          </a:bodyPr>
          <a:lstStyle>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xmlns="" id="{EF37A30E-D1A0-430A-8AA0-F979BB940400}"/>
              </a:ext>
            </a:extLst>
          </p:cNvPr>
          <p:cNvSpPr>
            <a:spLocks noGrp="1"/>
          </p:cNvSpPr>
          <p:nvPr/>
        </p:nvSpPr>
        <p:spPr>
          <a:xfrm>
            <a:off x="523875" y="1524000"/>
            <a:ext cx="8096250" cy="1000125"/>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Network Error Detection and Correction Toolkit</a:t>
            </a:r>
          </a:p>
        </p:txBody>
      </p:sp>
      <p:sp>
        <p:nvSpPr>
          <p:cNvPr id="2" name="Rectangle 1">
            <a:extLst>
              <a:ext uri="{FF2B5EF4-FFF2-40B4-BE49-F238E27FC236}">
                <a16:creationId xmlns:a16="http://schemas.microsoft.com/office/drawing/2014/main" xmlns="" id="{FB949E34-4B5B-4562-AC62-5E3AE182E6D9}"/>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xmlns="" id="{3188D55E-1711-439B-B044-BD320AA1699C}"/>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15 seconds</a:t>
            </a:r>
          </a:p>
        </p:txBody>
      </p:sp>
      <p:pic>
        <p:nvPicPr>
          <p:cNvPr id="4" name="Picture 3">
            <a:extLst>
              <a:ext uri="{FF2B5EF4-FFF2-40B4-BE49-F238E27FC236}">
                <a16:creationId xmlns:a16="http://schemas.microsoft.com/office/drawing/2014/main" xmlns="" id="{20500DC7-A09E-49E5-9BD7-7620F64528E8}"/>
              </a:ext>
            </a:extLst>
          </p:cNvPr>
          <p:cNvPicPr>
            <a:picLocks noChangeAspect="1"/>
          </p:cNvPicPr>
          <p:nvPr/>
        </p:nvPicPr>
        <p:blipFill>
          <a:blip r:embed="rId3"/>
          <a:stretch/>
        </p:blipFill>
        <p:spPr>
          <a:xfrm>
            <a:off x="2916647" y="349624"/>
            <a:ext cx="3310706" cy="952500"/>
          </a:xfrm>
          <a:prstGeom prst="rect">
            <a:avLst/>
          </a:prstGeom>
        </p:spPr>
      </p:pic>
      <p:sp>
        <p:nvSpPr>
          <p:cNvPr id="5" name="Rectangle 4">
            <a:extLst>
              <a:ext uri="{FF2B5EF4-FFF2-40B4-BE49-F238E27FC236}">
                <a16:creationId xmlns:a16="http://schemas.microsoft.com/office/drawing/2014/main" xmlns="" id="{218C27AC-3417-4BF8-804F-DF5A87976EC8}"/>
              </a:ext>
            </a:extLst>
          </p:cNvPr>
          <p:cNvSpPr>
            <a:spLocks noGrp="1"/>
          </p:cNvSpPr>
          <p:nvPr/>
        </p:nvSpPr>
        <p:spPr>
          <a:xfrm>
            <a:off x="523875" y="2667000"/>
            <a:ext cx="8096250" cy="333375"/>
          </a:xfrm>
          <a:prstGeom prst="rect">
            <a:avLst/>
          </a:prstGeom>
          <a:noFill/>
          <a:ln w="0">
            <a:noFill/>
            <a:prstDash val="solid"/>
          </a:ln>
        </p:spPr>
        <p:txBody>
          <a:bodyPr/>
          <a:lstStyle>
            <a:defPPr>
              <a:defRPr sz="1950" b="1">
                <a:solidFill>
                  <a:srgbClr val="202020"/>
                </a:solidFill>
                <a:latin typeface="Arial"/>
                <a:ea typeface="Arial"/>
                <a:cs typeface="Arial"/>
              </a:defRPr>
            </a:defPPr>
          </a:lstStyle>
          <a:p>
            <a:pPr algn="ctr">
              <a:defRPr sz="1950" b="1">
                <a:solidFill>
                  <a:srgbClr val="202020"/>
                </a:solidFill>
                <a:latin typeface="Arial"/>
                <a:ea typeface="Arial"/>
                <a:cs typeface="Arial"/>
              </a:defRPr>
            </a:pPr>
            <a:r>
              <a:rPr sz="1950" b="1" dirty="0">
                <a:solidFill>
                  <a:srgbClr val="202020"/>
                </a:solidFill>
                <a:latin typeface="Arial"/>
                <a:ea typeface="Arial"/>
                <a:cs typeface="Arial"/>
              </a:rPr>
              <a:t>Mini-project presentation</a:t>
            </a:r>
          </a:p>
        </p:txBody>
      </p:sp>
      <p:sp>
        <p:nvSpPr>
          <p:cNvPr id="6" name="Rectangle 5">
            <a:extLst>
              <a:ext uri="{FF2B5EF4-FFF2-40B4-BE49-F238E27FC236}">
                <a16:creationId xmlns:a16="http://schemas.microsoft.com/office/drawing/2014/main" xmlns="" id="{6626C341-1A4C-494A-8571-B519D932EFAE}"/>
              </a:ext>
            </a:extLst>
          </p:cNvPr>
          <p:cNvSpPr>
            <a:spLocks noGrp="1"/>
          </p:cNvSpPr>
          <p:nvPr/>
        </p:nvSpPr>
        <p:spPr>
          <a:xfrm>
            <a:off x="523875" y="3143250"/>
            <a:ext cx="8096250" cy="666750"/>
          </a:xfrm>
          <a:prstGeom prst="rect">
            <a:avLst/>
          </a:prstGeom>
          <a:noFill/>
          <a:ln w="0">
            <a:noFill/>
            <a:prstDash val="solid"/>
          </a:ln>
        </p:spPr>
        <p:txBody>
          <a:bodyPr/>
          <a:lstStyle>
            <a:defPPr>
              <a:defRPr sz="1650" b="0">
                <a:solidFill>
                  <a:srgbClr val="202020"/>
                </a:solidFill>
                <a:latin typeface="Arial"/>
                <a:ea typeface="Arial"/>
                <a:cs typeface="Arial"/>
              </a:defRPr>
            </a:defPPr>
          </a:lstStyle>
          <a:p>
            <a:pPr algn="ctr">
              <a:defRPr sz="1650" b="0">
                <a:solidFill>
                  <a:srgbClr val="202020"/>
                </a:solidFill>
                <a:latin typeface="Arial"/>
                <a:ea typeface="Arial"/>
                <a:cs typeface="Arial"/>
              </a:defRPr>
            </a:pPr>
            <a:r>
              <a:rPr sz="1650" b="0" dirty="0">
                <a:solidFill>
                  <a:srgbClr val="202020"/>
                </a:solidFill>
                <a:latin typeface="Arial"/>
                <a:ea typeface="Arial"/>
                <a:cs typeface="Arial"/>
              </a:rPr>
              <a:t>Computer Networks Laboratory (CSE20110)</a:t>
            </a:r>
          </a:p>
          <a:p>
            <a:pPr algn="ctr">
              <a:defRPr sz="1650" b="0">
                <a:solidFill>
                  <a:srgbClr val="202020"/>
                </a:solidFill>
                <a:latin typeface="Arial"/>
                <a:ea typeface="Arial"/>
                <a:cs typeface="Arial"/>
              </a:defRPr>
            </a:pPr>
            <a:r>
              <a:rPr sz="1650" b="0" dirty="0">
                <a:solidFill>
                  <a:srgbClr val="202020"/>
                </a:solidFill>
                <a:latin typeface="Arial"/>
                <a:ea typeface="Arial"/>
                <a:cs typeface="Arial"/>
              </a:rPr>
              <a:t>Department of Computer Engineering and Technology</a:t>
            </a:r>
          </a:p>
        </p:txBody>
      </p:sp>
      <p:sp>
        <p:nvSpPr>
          <p:cNvPr id="7" name="Rectangle 6">
            <a:extLst>
              <a:ext uri="{FF2B5EF4-FFF2-40B4-BE49-F238E27FC236}">
                <a16:creationId xmlns:a16="http://schemas.microsoft.com/office/drawing/2014/main" xmlns="" id="{45DF9F57-7481-43AF-90EA-1B438F83D4AC}"/>
              </a:ext>
            </a:extLst>
          </p:cNvPr>
          <p:cNvSpPr>
            <a:spLocks noGrp="1"/>
          </p:cNvSpPr>
          <p:nvPr/>
        </p:nvSpPr>
        <p:spPr>
          <a:xfrm>
            <a:off x="523875" y="4095750"/>
            <a:ext cx="8096250" cy="714375"/>
          </a:xfrm>
          <a:prstGeom prst="rect">
            <a:avLst/>
          </a:prstGeom>
          <a:noFill/>
          <a:ln w="0">
            <a:noFill/>
            <a:prstDash val="solid"/>
          </a:ln>
        </p:spPr>
        <p:txBody>
          <a:bodyPr/>
          <a:lstStyle>
            <a:defPPr>
              <a:defRPr sz="1575" b="0">
                <a:solidFill>
                  <a:srgbClr val="202020"/>
                </a:solidFill>
                <a:latin typeface="Arial"/>
                <a:ea typeface="Arial"/>
                <a:cs typeface="Arial"/>
              </a:defRPr>
            </a:defPPr>
          </a:lstStyle>
          <a:p>
            <a:pPr algn="ctr">
              <a:defRPr sz="1575" b="0">
                <a:solidFill>
                  <a:srgbClr val="202020"/>
                </a:solidFill>
                <a:latin typeface="Arial"/>
                <a:ea typeface="Arial"/>
                <a:cs typeface="Arial"/>
              </a:defRPr>
            </a:pPr>
            <a:r>
              <a:rPr lang="en-US" sz="1575" dirty="0" err="1" smtClean="0">
                <a:solidFill>
                  <a:srgbClr val="202020"/>
                </a:solidFill>
                <a:latin typeface="Arial"/>
                <a:ea typeface="Arial"/>
                <a:cs typeface="Arial"/>
              </a:rPr>
              <a:t>Shobhit</a:t>
            </a:r>
            <a:r>
              <a:rPr lang="en-US" sz="1575" dirty="0" smtClean="0">
                <a:solidFill>
                  <a:srgbClr val="202020"/>
                </a:solidFill>
                <a:latin typeface="Arial"/>
                <a:ea typeface="Arial"/>
                <a:cs typeface="Arial"/>
              </a:rPr>
              <a:t> </a:t>
            </a:r>
            <a:r>
              <a:rPr lang="en-US" sz="1575" dirty="0" err="1" smtClean="0">
                <a:solidFill>
                  <a:srgbClr val="202020"/>
                </a:solidFill>
                <a:latin typeface="Arial"/>
                <a:ea typeface="Arial"/>
                <a:cs typeface="Arial"/>
              </a:rPr>
              <a:t>Shourya</a:t>
            </a:r>
            <a:r>
              <a:rPr sz="1575" b="0" smtClean="0">
                <a:solidFill>
                  <a:srgbClr val="202020"/>
                </a:solidFill>
                <a:latin typeface="Arial"/>
                <a:ea typeface="Arial"/>
                <a:cs typeface="Arial"/>
              </a:rPr>
              <a:t> </a:t>
            </a:r>
            <a:r>
              <a:rPr lang="en-US" sz="1575" b="0" dirty="0" smtClean="0">
                <a:solidFill>
                  <a:srgbClr val="202020"/>
                </a:solidFill>
                <a:latin typeface="Arial"/>
                <a:ea typeface="Arial"/>
                <a:cs typeface="Arial"/>
              </a:rPr>
              <a:t> </a:t>
            </a:r>
            <a:r>
              <a:rPr sz="1575" b="0" smtClean="0">
                <a:solidFill>
                  <a:srgbClr val="202020"/>
                </a:solidFill>
                <a:latin typeface="Arial"/>
                <a:ea typeface="Arial"/>
                <a:cs typeface="Arial"/>
              </a:rPr>
              <a:t>PRN</a:t>
            </a:r>
            <a:r>
              <a:rPr lang="en-US" sz="1575" dirty="0" smtClean="0">
                <a:solidFill>
                  <a:srgbClr val="202020"/>
                </a:solidFill>
                <a:latin typeface="Arial"/>
                <a:ea typeface="Arial"/>
                <a:cs typeface="Arial"/>
              </a:rPr>
              <a:t>: 1272251419</a:t>
            </a:r>
            <a:r>
              <a:rPr sz="1575" b="0" smtClean="0">
                <a:solidFill>
                  <a:srgbClr val="202020"/>
                </a:solidFill>
                <a:latin typeface="Arial"/>
                <a:ea typeface="Arial"/>
                <a:cs typeface="Arial"/>
              </a:rPr>
              <a:t>     </a:t>
            </a:r>
            <a:endParaRPr sz="1575" b="0" dirty="0">
              <a:solidFill>
                <a:srgbClr val="202020"/>
              </a:solidFill>
              <a:latin typeface="Arial"/>
              <a:ea typeface="Arial"/>
              <a:cs typeface="Arial"/>
            </a:endParaRPr>
          </a:p>
          <a:p>
            <a:pPr algn="ctr">
              <a:defRPr sz="1575" b="0">
                <a:solidFill>
                  <a:srgbClr val="202020"/>
                </a:solidFill>
                <a:latin typeface="Arial"/>
                <a:ea typeface="Arial"/>
                <a:cs typeface="Arial"/>
              </a:defRPr>
            </a:pPr>
            <a:endParaRPr sz="1575" b="0" dirty="0">
              <a:solidFill>
                <a:srgbClr val="202020"/>
              </a:solidFill>
              <a:latin typeface="Arial"/>
              <a:ea typeface="Arial"/>
              <a:cs typeface="Arial"/>
            </a:endParaRPr>
          </a:p>
        </p:txBody>
      </p:sp>
      <p:sp>
        <p:nvSpPr>
          <p:cNvPr id="8" name="Rectangle 7">
            <a:extLst>
              <a:ext uri="{FF2B5EF4-FFF2-40B4-BE49-F238E27FC236}">
                <a16:creationId xmlns:a16="http://schemas.microsoft.com/office/drawing/2014/main" xmlns="" id="{A0BBC233-AAC0-44C2-84CB-E2C2B90BE7A7}"/>
              </a:ext>
            </a:extLst>
          </p:cNvPr>
          <p:cNvSpPr>
            <a:spLocks noGrp="1"/>
          </p:cNvSpPr>
          <p:nvPr/>
        </p:nvSpPr>
        <p:spPr>
          <a:xfrm>
            <a:off x="523875" y="5095875"/>
            <a:ext cx="8096250" cy="952500"/>
          </a:xfrm>
          <a:prstGeom prst="rect">
            <a:avLst/>
          </a:prstGeom>
          <a:noFill/>
          <a:ln w="0">
            <a:noFill/>
            <a:prstDash val="solid"/>
          </a:ln>
        </p:spPr>
        <p:txBody>
          <a:bodyPr/>
          <a:lstStyle>
            <a:defPPr>
              <a:defRPr sz="1500" b="0">
                <a:solidFill>
                  <a:srgbClr val="202020"/>
                </a:solidFill>
                <a:latin typeface="Arial"/>
                <a:ea typeface="Arial"/>
                <a:cs typeface="Arial"/>
              </a:defRPr>
            </a:defPPr>
          </a:lstStyle>
          <a:p>
            <a:pPr algn="ctr">
              <a:defRPr sz="1500" b="0">
                <a:solidFill>
                  <a:srgbClr val="202020"/>
                </a:solidFill>
                <a:latin typeface="Arial"/>
                <a:ea typeface="Arial"/>
                <a:cs typeface="Arial"/>
              </a:defRPr>
            </a:pPr>
            <a:r>
              <a:rPr sz="1500" b="0" dirty="0">
                <a:solidFill>
                  <a:srgbClr val="202020"/>
                </a:solidFill>
                <a:latin typeface="Arial"/>
                <a:ea typeface="Arial"/>
                <a:cs typeface="Arial"/>
              </a:rPr>
              <a:t>Group [No.]   </a:t>
            </a:r>
            <a:r>
              <a:rPr sz="1500" b="0">
                <a:solidFill>
                  <a:srgbClr val="202020"/>
                </a:solidFill>
                <a:latin typeface="Arial"/>
                <a:ea typeface="Arial"/>
                <a:cs typeface="Arial"/>
              </a:rPr>
              <a:t>Panel </a:t>
            </a:r>
            <a:r>
              <a:rPr lang="en-US" sz="1500" b="0" dirty="0" smtClean="0">
                <a:solidFill>
                  <a:srgbClr val="202020"/>
                </a:solidFill>
                <a:latin typeface="Arial"/>
                <a:ea typeface="Arial"/>
                <a:cs typeface="Arial"/>
              </a:rPr>
              <a:t>J</a:t>
            </a:r>
            <a:r>
              <a:rPr sz="1500" b="0" smtClean="0">
                <a:solidFill>
                  <a:srgbClr val="202020"/>
                </a:solidFill>
                <a:latin typeface="Arial"/>
                <a:ea typeface="Arial"/>
                <a:cs typeface="Arial"/>
              </a:rPr>
              <a:t>   </a:t>
            </a:r>
            <a:r>
              <a:rPr sz="1500" b="0">
                <a:solidFill>
                  <a:srgbClr val="202020"/>
                </a:solidFill>
                <a:latin typeface="Arial"/>
                <a:ea typeface="Arial"/>
                <a:cs typeface="Arial"/>
              </a:rPr>
              <a:t>Batch </a:t>
            </a:r>
            <a:r>
              <a:rPr lang="en-US" sz="1500" dirty="0" smtClean="0">
                <a:solidFill>
                  <a:srgbClr val="202020"/>
                </a:solidFill>
                <a:latin typeface="Arial"/>
                <a:ea typeface="Arial"/>
                <a:cs typeface="Arial"/>
              </a:rPr>
              <a:t>J2</a:t>
            </a:r>
            <a:endParaRPr sz="1500" b="0" dirty="0">
              <a:solidFill>
                <a:srgbClr val="202020"/>
              </a:solidFill>
              <a:latin typeface="Arial"/>
              <a:ea typeface="Arial"/>
              <a:cs typeface="Arial"/>
            </a:endParaRPr>
          </a:p>
          <a:p>
            <a:pPr algn="ctr">
              <a:defRPr sz="1500" b="0">
                <a:solidFill>
                  <a:srgbClr val="202020"/>
                </a:solidFill>
                <a:latin typeface="Arial"/>
                <a:ea typeface="Arial"/>
                <a:cs typeface="Arial"/>
              </a:defRPr>
            </a:pPr>
            <a:r>
              <a:rPr sz="1500" b="0" dirty="0">
                <a:solidFill>
                  <a:srgbClr val="202020"/>
                </a:solidFill>
                <a:latin typeface="Arial"/>
                <a:ea typeface="Arial"/>
                <a:cs typeface="Arial"/>
              </a:rPr>
              <a:t>Faculty</a:t>
            </a:r>
            <a:r>
              <a:rPr sz="1500" b="0">
                <a:solidFill>
                  <a:srgbClr val="202020"/>
                </a:solidFill>
                <a:latin typeface="Arial"/>
                <a:ea typeface="Arial"/>
                <a:cs typeface="Arial"/>
              </a:rPr>
              <a:t>: </a:t>
            </a:r>
            <a:r>
              <a:rPr lang="en-US" sz="1500" dirty="0" smtClean="0">
                <a:solidFill>
                  <a:srgbClr val="202020"/>
                </a:solidFill>
                <a:latin typeface="Arial"/>
                <a:ea typeface="Arial"/>
                <a:cs typeface="Arial"/>
              </a:rPr>
              <a:t>Dr. </a:t>
            </a:r>
            <a:r>
              <a:rPr lang="en-US" sz="1500" dirty="0" err="1" smtClean="0">
                <a:solidFill>
                  <a:srgbClr val="202020"/>
                </a:solidFill>
                <a:latin typeface="Arial"/>
                <a:ea typeface="Arial"/>
                <a:cs typeface="Arial"/>
              </a:rPr>
              <a:t>Uma</a:t>
            </a:r>
            <a:r>
              <a:rPr lang="en-US" sz="1500" dirty="0" smtClean="0">
                <a:solidFill>
                  <a:srgbClr val="202020"/>
                </a:solidFill>
                <a:latin typeface="Arial"/>
                <a:ea typeface="Arial"/>
                <a:cs typeface="Arial"/>
              </a:rPr>
              <a:t> </a:t>
            </a:r>
            <a:r>
              <a:rPr lang="en-US" sz="1500" dirty="0" err="1" smtClean="0">
                <a:solidFill>
                  <a:srgbClr val="202020"/>
                </a:solidFill>
                <a:latin typeface="Arial"/>
                <a:ea typeface="Arial"/>
                <a:cs typeface="Arial"/>
              </a:rPr>
              <a:t>Pujeri</a:t>
            </a:r>
            <a:endParaRPr lang="en-US" sz="1500" b="0" dirty="0">
              <a:solidFill>
                <a:srgbClr val="202020"/>
              </a:solidFill>
              <a:latin typeface="Arial"/>
              <a:ea typeface="Arial"/>
              <a:cs typeface="Arial"/>
            </a:endParaRPr>
          </a:p>
          <a:p>
            <a:pPr algn="ctr">
              <a:defRPr sz="1500" b="0">
                <a:solidFill>
                  <a:srgbClr val="202020"/>
                </a:solidFill>
                <a:latin typeface="Arial"/>
                <a:ea typeface="Arial"/>
                <a:cs typeface="Arial"/>
              </a:defRPr>
            </a:pPr>
            <a:r>
              <a:rPr lang="en-US" sz="1500" b="0" dirty="0">
                <a:solidFill>
                  <a:srgbClr val="202020"/>
                </a:solidFill>
                <a:latin typeface="Arial"/>
                <a:ea typeface="Arial"/>
                <a:cs typeface="Arial"/>
              </a:rPr>
              <a:t>Academic Year: 2026–2027   </a:t>
            </a:r>
          </a:p>
          <a:p>
            <a:pPr algn="ctr">
              <a:defRPr sz="1500" b="0">
                <a:solidFill>
                  <a:srgbClr val="202020"/>
                </a:solidFill>
                <a:latin typeface="Arial"/>
                <a:ea typeface="Arial"/>
                <a:cs typeface="Arial"/>
              </a:defRPr>
            </a:pPr>
            <a:r>
              <a:rPr lang="en-US" sz="1500" b="0" dirty="0">
                <a:solidFill>
                  <a:srgbClr val="202020"/>
                </a:solidFill>
                <a:latin typeface="Arial"/>
                <a:ea typeface="Arial"/>
                <a:cs typeface="Arial"/>
              </a:rPr>
              <a:t>Presentation date: </a:t>
            </a:r>
            <a:r>
              <a:rPr lang="en-US" sz="1500" dirty="0" smtClean="0">
                <a:solidFill>
                  <a:srgbClr val="202020"/>
                </a:solidFill>
                <a:latin typeface="Arial"/>
                <a:ea typeface="Arial"/>
                <a:cs typeface="Arial"/>
              </a:rPr>
              <a:t>23/10/26</a:t>
            </a:r>
            <a:endParaRPr lang="en-US" sz="1500" b="0" dirty="0">
              <a:solidFill>
                <a:srgbClr val="202020"/>
              </a:solidFill>
              <a:latin typeface="Arial"/>
              <a:ea typeface="Arial"/>
              <a:cs typeface="Arial"/>
            </a:endParaRPr>
          </a:p>
        </p:txBody>
      </p:sp>
    </p:spTree>
    <p:extLst>
      <p:ext uri="{BB962C8B-B14F-4D97-AF65-F5344CB8AC3E}">
        <p14:creationId xmlns:p14="http://schemas.microsoft.com/office/powerpoint/2010/main" xmlns="" val="169022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E88AF3E2-B0A1-48D7-8AAD-58C1AE49894A}"/>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Problem and Objectives</a:t>
            </a:r>
          </a:p>
        </p:txBody>
      </p:sp>
      <p:sp>
        <p:nvSpPr>
          <p:cNvPr id="2" name="Rectangle 1">
            <a:extLst>
              <a:ext uri="{FF2B5EF4-FFF2-40B4-BE49-F238E27FC236}">
                <a16:creationId xmlns:a16="http://schemas.microsoft.com/office/drawing/2014/main" xmlns="" id="{F4261110-3343-453F-B653-F85F3964BEA3}"/>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xmlns="" id="{A4034558-8083-4762-B500-1F5F6BD4A1F3}"/>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40 seconds</a:t>
            </a:r>
          </a:p>
        </p:txBody>
      </p:sp>
      <p:sp>
        <p:nvSpPr>
          <p:cNvPr id="4" name="Rectangle 3">
            <a:extLst>
              <a:ext uri="{FF2B5EF4-FFF2-40B4-BE49-F238E27FC236}">
                <a16:creationId xmlns:a16="http://schemas.microsoft.com/office/drawing/2014/main" xmlns="" id="{0890C7E7-A87D-46AD-AD00-B0EB9B949268}"/>
              </a:ext>
            </a:extLst>
          </p:cNvPr>
          <p:cNvSpPr>
            <a:spLocks noGrp="1"/>
          </p:cNvSpPr>
          <p:nvPr/>
        </p:nvSpPr>
        <p:spPr>
          <a:xfrm>
            <a:off x="523875" y="1333500"/>
            <a:ext cx="8096250" cy="333375"/>
          </a:xfrm>
          <a:prstGeom prst="rect">
            <a:avLst/>
          </a:prstGeom>
          <a:noFill/>
          <a:ln w="0">
            <a:noFill/>
            <a:prstDash val="solid"/>
          </a:ln>
        </p:spPr>
        <p:txBody>
          <a:bodyPr/>
          <a:lstStyle>
            <a:defPPr>
              <a:defRPr sz="1800" b="1">
                <a:solidFill>
                  <a:srgbClr val="202020"/>
                </a:solidFill>
                <a:latin typeface="Arial"/>
                <a:ea typeface="Arial"/>
                <a:cs typeface="Arial"/>
              </a:defRPr>
            </a:defPPr>
          </a:lstStyle>
          <a:p>
            <a:pPr algn="ctr">
              <a:defRPr sz="1800" b="1">
                <a:solidFill>
                  <a:srgbClr val="202020"/>
                </a:solidFill>
                <a:latin typeface="Arial"/>
                <a:ea typeface="Arial"/>
                <a:cs typeface="Arial"/>
              </a:defRPr>
            </a:pPr>
            <a:r>
              <a:rPr sz="1800" b="1" dirty="0">
                <a:solidFill>
                  <a:srgbClr val="202020"/>
                </a:solidFill>
                <a:latin typeface="Arial"/>
                <a:ea typeface="Arial"/>
                <a:cs typeface="Arial"/>
              </a:rPr>
              <a:t>Problem</a:t>
            </a:r>
          </a:p>
        </p:txBody>
      </p:sp>
      <p:sp>
        <p:nvSpPr>
          <p:cNvPr id="5" name="Rectangle 4">
            <a:extLst>
              <a:ext uri="{FF2B5EF4-FFF2-40B4-BE49-F238E27FC236}">
                <a16:creationId xmlns:a16="http://schemas.microsoft.com/office/drawing/2014/main" xmlns="" id="{BE9F3CB5-0C0F-4AA1-99D5-8611CF4347DB}"/>
              </a:ext>
            </a:extLst>
          </p:cNvPr>
          <p:cNvSpPr>
            <a:spLocks noGrp="1"/>
          </p:cNvSpPr>
          <p:nvPr/>
        </p:nvSpPr>
        <p:spPr>
          <a:xfrm>
            <a:off x="523875" y="1809750"/>
            <a:ext cx="8096250" cy="1000125"/>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defRPr sz="1800" b="0">
                <a:solidFill>
                  <a:srgbClr val="202020"/>
                </a:solidFill>
                <a:latin typeface="Arial"/>
                <a:ea typeface="Arial"/>
                <a:cs typeface="Arial"/>
              </a:defRPr>
            </a:pPr>
            <a:r>
              <a:rPr sz="1800" b="0">
                <a:solidFill>
                  <a:srgbClr val="202020"/>
                </a:solidFill>
                <a:latin typeface="Arial"/>
                <a:ea typeface="Arial"/>
                <a:cs typeface="Arial"/>
              </a:rPr>
              <a:t>Noise flips bits on every link, and a weak code accepts wrong data.</a:t>
            </a:r>
          </a:p>
          <a:p>
            <a:pPr>
              <a:defRPr sz="1800" b="0">
                <a:solidFill>
                  <a:srgbClr val="202020"/>
                </a:solidFill>
                <a:latin typeface="Arial"/>
                <a:ea typeface="Arial"/>
                <a:cs typeface="Arial"/>
              </a:defRPr>
            </a:pPr>
            <a:r>
              <a:rPr sz="1800" b="0">
                <a:solidFill>
                  <a:srgbClr val="202020"/>
                </a:solidFill>
                <a:latin typeface="Arial"/>
                <a:ea typeface="Arial"/>
                <a:cs typeface="Arial"/>
              </a:rPr>
              <a:t>Students need to see which code catches which error, and at what cost.</a:t>
            </a:r>
          </a:p>
        </p:txBody>
      </p:sp>
      <p:sp>
        <p:nvSpPr>
          <p:cNvPr id="6" name="Rectangle 5">
            <a:extLst>
              <a:ext uri="{FF2B5EF4-FFF2-40B4-BE49-F238E27FC236}">
                <a16:creationId xmlns:a16="http://schemas.microsoft.com/office/drawing/2014/main" xmlns="" id="{D4E77847-D504-4787-9F02-71CD2DC84C85}"/>
              </a:ext>
            </a:extLst>
          </p:cNvPr>
          <p:cNvSpPr>
            <a:spLocks noGrp="1"/>
          </p:cNvSpPr>
          <p:nvPr/>
        </p:nvSpPr>
        <p:spPr>
          <a:xfrm>
            <a:off x="523875" y="3190875"/>
            <a:ext cx="8096250" cy="333375"/>
          </a:xfrm>
          <a:prstGeom prst="rect">
            <a:avLst/>
          </a:prstGeom>
          <a:noFill/>
          <a:ln w="0">
            <a:noFill/>
            <a:prstDash val="solid"/>
          </a:ln>
        </p:spPr>
        <p:txBody>
          <a:bodyPr/>
          <a:lstStyle>
            <a:defPPr>
              <a:defRPr sz="1800" b="1">
                <a:solidFill>
                  <a:srgbClr val="202020"/>
                </a:solidFill>
                <a:latin typeface="Arial"/>
                <a:ea typeface="Arial"/>
                <a:cs typeface="Arial"/>
              </a:defRPr>
            </a:defPPr>
          </a:lstStyle>
          <a:p>
            <a:pPr algn="ctr">
              <a:defRPr sz="1800" b="1">
                <a:solidFill>
                  <a:srgbClr val="202020"/>
                </a:solidFill>
                <a:latin typeface="Arial"/>
                <a:ea typeface="Arial"/>
                <a:cs typeface="Arial"/>
              </a:defRPr>
            </a:pPr>
            <a:r>
              <a:rPr sz="1800" b="1" dirty="0">
                <a:solidFill>
                  <a:srgbClr val="202020"/>
                </a:solidFill>
                <a:latin typeface="Arial"/>
                <a:ea typeface="Arial"/>
                <a:cs typeface="Arial"/>
              </a:rPr>
              <a:t>Objectives</a:t>
            </a:r>
          </a:p>
        </p:txBody>
      </p:sp>
      <p:sp>
        <p:nvSpPr>
          <p:cNvPr id="7" name="Rectangle 6">
            <a:extLst>
              <a:ext uri="{FF2B5EF4-FFF2-40B4-BE49-F238E27FC236}">
                <a16:creationId xmlns:a16="http://schemas.microsoft.com/office/drawing/2014/main" xmlns="" id="{91E6E9D2-D950-4002-905E-A6DD5AE7B3CB}"/>
              </a:ext>
            </a:extLst>
          </p:cNvPr>
          <p:cNvSpPr>
            <a:spLocks noGrp="1"/>
          </p:cNvSpPr>
          <p:nvPr/>
        </p:nvSpPr>
        <p:spPr>
          <a:xfrm>
            <a:off x="523875" y="3714750"/>
            <a:ext cx="8096250" cy="1428750"/>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defRPr sz="1800" b="0">
                <a:solidFill>
                  <a:srgbClr val="202020"/>
                </a:solidFill>
                <a:latin typeface="Arial"/>
                <a:ea typeface="Arial"/>
                <a:cs typeface="Arial"/>
              </a:defRPr>
            </a:pPr>
            <a:r>
              <a:rPr sz="1800" b="0">
                <a:solidFill>
                  <a:srgbClr val="202020"/>
                </a:solidFill>
                <a:latin typeface="Arial"/>
                <a:ea typeface="Arial"/>
                <a:cs typeface="Arial"/>
              </a:rPr>
              <a:t>1. Implement 9 codes: parity, checksum, CRC-8/16/32, Hamming</a:t>
            </a:r>
          </a:p>
          <a:p>
            <a:pPr>
              <a:defRPr sz="1800" b="0">
                <a:solidFill>
                  <a:srgbClr val="202020"/>
                </a:solidFill>
                <a:latin typeface="Arial"/>
                <a:ea typeface="Arial"/>
                <a:cs typeface="Arial"/>
              </a:defRPr>
            </a:pPr>
            <a:r>
              <a:rPr sz="1800" b="0">
                <a:solidFill>
                  <a:srgbClr val="202020"/>
                </a:solidFill>
                <a:latin typeface="Arial"/>
                <a:ea typeface="Arial"/>
                <a:cs typeface="Arial"/>
              </a:rPr>
              <a:t>2. Let users enter data, inject errors and see the decoder's decision</a:t>
            </a:r>
          </a:p>
          <a:p>
            <a:pPr>
              <a:defRPr sz="1800" b="0">
                <a:solidFill>
                  <a:srgbClr val="202020"/>
                </a:solidFill>
                <a:latin typeface="Arial"/>
                <a:ea typeface="Arial"/>
                <a:cs typeface="Arial"/>
              </a:defRPr>
            </a:pPr>
            <a:r>
              <a:rPr sz="1800" b="0">
                <a:solidFill>
                  <a:srgbClr val="202020"/>
                </a:solidFill>
                <a:latin typeface="Arial"/>
                <a:ea typeface="Arial"/>
                <a:cs typeface="Arial"/>
              </a:rPr>
              <a:t>3. Compare undetected errors, overhead and goodput over noisy UDP</a:t>
            </a:r>
          </a:p>
        </p:txBody>
      </p:sp>
    </p:spTree>
    <p:extLst>
      <p:ext uri="{BB962C8B-B14F-4D97-AF65-F5344CB8AC3E}">
        <p14:creationId xmlns:p14="http://schemas.microsoft.com/office/powerpoint/2010/main" xmlns="" val="1771186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DE2A7FE5-9330-404A-8834-8EE47CC698A1}"/>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Proposed Design and Tools</a:t>
            </a:r>
          </a:p>
        </p:txBody>
      </p:sp>
      <p:sp>
        <p:nvSpPr>
          <p:cNvPr id="2" name="Rectangle 1">
            <a:extLst>
              <a:ext uri="{FF2B5EF4-FFF2-40B4-BE49-F238E27FC236}">
                <a16:creationId xmlns:a16="http://schemas.microsoft.com/office/drawing/2014/main" xmlns="" id="{01186328-4620-4152-951C-0F6E0B69DF17}"/>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xmlns="" id="{D6BB9F45-CBCF-467D-B76E-7FE236AFBDA0}"/>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45 seconds</a:t>
            </a:r>
          </a:p>
        </p:txBody>
      </p:sp>
      <p:sp>
        <p:nvSpPr>
          <p:cNvPr id="5" name="Rectangle 4">
            <a:extLst>
              <a:ext uri="{FF2B5EF4-FFF2-40B4-BE49-F238E27FC236}">
                <a16:creationId xmlns:a16="http://schemas.microsoft.com/office/drawing/2014/main" xmlns="" id="{28FCADAF-A2C0-470E-9C4F-96082F51573B}"/>
              </a:ext>
            </a:extLst>
          </p:cNvPr>
          <p:cNvSpPr>
            <a:spLocks noGrp="1"/>
          </p:cNvSpPr>
          <p:nvPr/>
        </p:nvSpPr>
        <p:spPr>
          <a:xfrm>
            <a:off x="523875" y="4095750"/>
            <a:ext cx="8096250" cy="1476375"/>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lgn="ctr">
              <a:defRPr sz="1800" b="0">
                <a:solidFill>
                  <a:srgbClr val="202020"/>
                </a:solidFill>
                <a:latin typeface="Arial"/>
                <a:ea typeface="Arial"/>
                <a:cs typeface="Arial"/>
              </a:defRPr>
            </a:pPr>
            <a:r>
              <a:rPr sz="1800" b="0" dirty="0">
                <a:solidFill>
                  <a:srgbClr val="202020"/>
                </a:solidFill>
                <a:latin typeface="Arial"/>
                <a:ea typeface="Arial"/>
                <a:cs typeface="Arial"/>
              </a:rPr>
              <a:t>Tools: C++17 (g++ / MinGW-w64), sockets API, Wireshark 4.2</a:t>
            </a:r>
          </a:p>
          <a:p>
            <a:pPr algn="ctr">
              <a:defRPr sz="1800" b="0">
                <a:solidFill>
                  <a:srgbClr val="202020"/>
                </a:solidFill>
                <a:latin typeface="Arial"/>
                <a:ea typeface="Arial"/>
                <a:cs typeface="Arial"/>
              </a:defRPr>
            </a:pPr>
            <a:r>
              <a:rPr sz="1800" b="0" dirty="0">
                <a:solidFill>
                  <a:srgbClr val="202020"/>
                </a:solidFill>
                <a:latin typeface="Arial"/>
                <a:ea typeface="Arial"/>
                <a:cs typeface="Arial"/>
              </a:rPr>
              <a:t>Protocols: UDP, own 16-byte header with CRC-16, stop-and-wait ARQ</a:t>
            </a:r>
          </a:p>
          <a:p>
            <a:pPr algn="ctr">
              <a:defRPr sz="1800" b="0">
                <a:solidFill>
                  <a:srgbClr val="202020"/>
                </a:solidFill>
                <a:latin typeface="Arial"/>
                <a:ea typeface="Arial"/>
                <a:cs typeface="Arial"/>
              </a:defRPr>
            </a:pPr>
            <a:r>
              <a:rPr sz="1800" b="0" dirty="0">
                <a:solidFill>
                  <a:srgbClr val="202020"/>
                </a:solidFill>
                <a:latin typeface="Arial"/>
                <a:ea typeface="Arial"/>
                <a:cs typeface="Arial"/>
              </a:rPr>
              <a:t>Addressing: 127.0.0.1 or LAN; channel UDP 9101, receiver UDP 9100</a:t>
            </a:r>
          </a:p>
        </p:txBody>
      </p:sp>
      <p:pic>
        <p:nvPicPr>
          <p:cNvPr id="7" name="Picture 6" descr="architecture.png"/>
          <p:cNvPicPr>
            <a:picLocks noChangeAspect="1"/>
          </p:cNvPicPr>
          <p:nvPr/>
        </p:nvPicPr>
        <p:blipFill>
          <a:blip r:embed="rId3"/>
          <a:stretch>
            <a:fillRect/>
          </a:stretch>
        </p:blipFill>
        <p:spPr>
          <a:xfrm>
            <a:off x="1781855" y="1428750"/>
            <a:ext cx="5580289" cy="2604135"/>
          </a:xfrm>
          <a:prstGeom prst="rect">
            <a:avLst/>
          </a:prstGeom>
        </p:spPr>
      </p:pic>
    </p:spTree>
    <p:extLst>
      <p:ext uri="{BB962C8B-B14F-4D97-AF65-F5344CB8AC3E}">
        <p14:creationId xmlns:p14="http://schemas.microsoft.com/office/powerpoint/2010/main" xmlns="" val="2032430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79D9CBCB-0357-4DC8-A188-4C37277A96D4}"/>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Implementation and Working</a:t>
            </a:r>
          </a:p>
        </p:txBody>
      </p:sp>
      <p:sp>
        <p:nvSpPr>
          <p:cNvPr id="2" name="Rectangle 1">
            <a:extLst>
              <a:ext uri="{FF2B5EF4-FFF2-40B4-BE49-F238E27FC236}">
                <a16:creationId xmlns:a16="http://schemas.microsoft.com/office/drawing/2014/main" xmlns="" id="{A18AF794-E3C6-4991-A893-A5574F7F23BE}"/>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xmlns="" id="{A5E311F0-B43D-4984-B7EF-5CED8D55A51E}"/>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55 seconds</a:t>
            </a:r>
          </a:p>
        </p:txBody>
      </p:sp>
      <p:sp>
        <p:nvSpPr>
          <p:cNvPr id="5" name="Rectangle 4">
            <a:extLst>
              <a:ext uri="{FF2B5EF4-FFF2-40B4-BE49-F238E27FC236}">
                <a16:creationId xmlns:a16="http://schemas.microsoft.com/office/drawing/2014/main" xmlns="" id="{71B6265A-7667-4F74-BB20-92A5B1B71102}"/>
              </a:ext>
            </a:extLst>
          </p:cNvPr>
          <p:cNvSpPr>
            <a:spLocks noGrp="1"/>
          </p:cNvSpPr>
          <p:nvPr/>
        </p:nvSpPr>
        <p:spPr>
          <a:xfrm>
            <a:off x="523875" y="4095750"/>
            <a:ext cx="8096250" cy="1571625"/>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defRPr sz="1800" b="0">
                <a:solidFill>
                  <a:srgbClr val="202020"/>
                </a:solidFill>
                <a:latin typeface="Arial"/>
                <a:ea typeface="Arial"/>
                <a:cs typeface="Arial"/>
              </a:defRPr>
            </a:pPr>
            <a:r>
              <a:rPr sz="1800" b="0">
                <a:solidFill>
                  <a:srgbClr val="202020"/>
                </a:solidFill>
                <a:latin typeface="Arial"/>
                <a:ea typeface="Arial"/>
                <a:cs typeface="Arial"/>
              </a:rPr>
              <a:t>Implementation: codes, error models, frame + ARQ, channel, toolkit</a:t>
            </a:r>
          </a:p>
          <a:p>
            <a:pPr>
              <a:defRPr sz="1800" b="0">
                <a:solidFill>
                  <a:srgbClr val="202020"/>
                </a:solidFill>
                <a:latin typeface="Arial"/>
                <a:ea typeface="Arial"/>
                <a:cs typeface="Arial"/>
              </a:defRPr>
            </a:pPr>
            <a:r>
              <a:rPr sz="1800" b="0">
                <a:solidFill>
                  <a:srgbClr val="202020"/>
                </a:solidFill>
                <a:latin typeface="Arial"/>
                <a:ea typeface="Arial"/>
                <a:cs typeface="Arial"/>
              </a:rPr>
              <a:t>Working: encode, channel flips bits, receiver corrects or sends NAK</a:t>
            </a:r>
          </a:p>
          <a:p>
            <a:pPr>
              <a:defRPr sz="1800" b="0">
                <a:solidFill>
                  <a:srgbClr val="202020"/>
                </a:solidFill>
                <a:latin typeface="Arial"/>
                <a:ea typeface="Arial"/>
                <a:cs typeface="Arial"/>
              </a:defRPr>
            </a:pPr>
            <a:r>
              <a:rPr sz="1800" b="0">
                <a:solidFill>
                  <a:srgbClr val="202020"/>
                </a:solidFill>
                <a:latin typeface="Arial"/>
                <a:ea typeface="Arial"/>
                <a:cs typeface="Arial"/>
              </a:rPr>
              <a:t>Troubleshooting: CRC-8 missed some 2-bit errors beyond 127 bits; verified with a 72-bit test frame</a:t>
            </a:r>
          </a:p>
        </p:txBody>
      </p:sp>
      <p:pic>
        <p:nvPicPr>
          <p:cNvPr id="7" name="Picture 6" descr="frame.png"/>
          <p:cNvPicPr>
            <a:picLocks noChangeAspect="1"/>
          </p:cNvPicPr>
          <p:nvPr/>
        </p:nvPicPr>
        <p:blipFill>
          <a:blip r:embed="rId3"/>
          <a:stretch>
            <a:fillRect/>
          </a:stretch>
        </p:blipFill>
        <p:spPr>
          <a:xfrm>
            <a:off x="1052269" y="1428750"/>
            <a:ext cx="7039461" cy="2143125"/>
          </a:xfrm>
          <a:prstGeom prst="rect">
            <a:avLst/>
          </a:prstGeom>
        </p:spPr>
      </p:pic>
    </p:spTree>
    <p:extLst>
      <p:ext uri="{BB962C8B-B14F-4D97-AF65-F5344CB8AC3E}">
        <p14:creationId xmlns:p14="http://schemas.microsoft.com/office/powerpoint/2010/main" xmlns="" val="450783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C317C623-7343-44B1-AA4A-D1B4C258A90F}"/>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Testing and Results</a:t>
            </a:r>
          </a:p>
        </p:txBody>
      </p:sp>
      <p:sp>
        <p:nvSpPr>
          <p:cNvPr id="2" name="Rectangle 1">
            <a:extLst>
              <a:ext uri="{FF2B5EF4-FFF2-40B4-BE49-F238E27FC236}">
                <a16:creationId xmlns:a16="http://schemas.microsoft.com/office/drawing/2014/main" xmlns="" id="{F1B9A461-CBBC-4245-813A-D1367A360BC7}"/>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xmlns="" id="{06353FE9-3343-4C54-947B-8EB6CA4BD4B2}"/>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50 seconds</a:t>
            </a:r>
          </a:p>
        </p:txBody>
      </p:sp>
      <p:sp>
        <p:nvSpPr>
          <p:cNvPr id="5" name="Rectangle 4">
            <a:extLst>
              <a:ext uri="{FF2B5EF4-FFF2-40B4-BE49-F238E27FC236}">
                <a16:creationId xmlns:a16="http://schemas.microsoft.com/office/drawing/2014/main" xmlns="" id="{6EA10CA8-AA41-4067-AE19-358C75D267F6}"/>
              </a:ext>
            </a:extLst>
          </p:cNvPr>
          <p:cNvSpPr>
            <a:spLocks noGrp="1"/>
          </p:cNvSpPr>
          <p:nvPr/>
        </p:nvSpPr>
        <p:spPr>
          <a:xfrm>
            <a:off x="523875" y="3905250"/>
            <a:ext cx="8096250" cy="1809750"/>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defRPr sz="1800" b="0">
                <a:solidFill>
                  <a:srgbClr val="202020"/>
                </a:solidFill>
                <a:latin typeface="Arial"/>
                <a:ea typeface="Arial"/>
                <a:cs typeface="Arial"/>
              </a:defRPr>
            </a:pPr>
            <a:r>
              <a:rPr sz="1800" b="0">
                <a:solidFill>
                  <a:srgbClr val="202020"/>
                </a:solidFill>
                <a:latin typeface="Arial"/>
                <a:ea typeface="Arial"/>
                <a:cs typeface="Arial"/>
              </a:rPr>
              <a:t>Test: "NETWORK" with 2 random bit errors, 1000 trials per code</a:t>
            </a:r>
          </a:p>
          <a:p>
            <a:pPr>
              <a:defRPr sz="1800" b="0">
                <a:solidFill>
                  <a:srgbClr val="202020"/>
                </a:solidFill>
                <a:latin typeface="Arial"/>
                <a:ea typeface="Arial"/>
                <a:cs typeface="Arial"/>
              </a:defRPr>
            </a:pPr>
            <a:r>
              <a:rPr sz="1800" b="0">
                <a:solidFill>
                  <a:srgbClr val="202020"/>
                </a:solidFill>
                <a:latin typeface="Arial"/>
                <a:ea typeface="Arial"/>
                <a:cs typeface="Arial"/>
              </a:rPr>
              <a:t>Expected: CRCs detect all; parity misses even error counts</a:t>
            </a:r>
          </a:p>
          <a:p>
            <a:pPr>
              <a:defRPr sz="1800" b="0">
                <a:solidFill>
                  <a:srgbClr val="202020"/>
                </a:solidFill>
                <a:latin typeface="Arial"/>
                <a:ea typeface="Arial"/>
                <a:cs typeface="Arial"/>
              </a:defRPr>
            </a:pPr>
            <a:r>
              <a:rPr sz="1800" b="0">
                <a:solidFill>
                  <a:srgbClr val="202020"/>
                </a:solidFill>
                <a:latin typeface="Arial"/>
                <a:ea typeface="Arial"/>
                <a:cs typeface="Arial"/>
              </a:rPr>
              <a:t>Observed: parity 100 % undetected, CRCs 0 %; at BER 1e-3 SEC-DED file intact at 40.2 kbit/s vs 21.6 for CRC-32</a:t>
            </a:r>
          </a:p>
          <a:p>
            <a:pPr>
              <a:defRPr sz="1800" b="0">
                <a:solidFill>
                  <a:srgbClr val="202020"/>
                </a:solidFill>
                <a:latin typeface="Arial"/>
                <a:ea typeface="Arial"/>
                <a:cs typeface="Arial"/>
              </a:defRPr>
            </a:pPr>
            <a:r>
              <a:rPr sz="1800" b="0">
                <a:solidFill>
                  <a:srgbClr val="202020"/>
                </a:solidFill>
                <a:latin typeface="Arial"/>
                <a:ea typeface="Arial"/>
                <a:cs typeface="Arial"/>
              </a:rPr>
              <a:t>Objectives achieved: 24/24 tests passed; O1 to O6 met</a:t>
            </a:r>
          </a:p>
        </p:txBody>
      </p:sp>
      <p:pic>
        <p:nvPicPr>
          <p:cNvPr id="7" name="Picture 6" descr="compare_crop.png"/>
          <p:cNvPicPr>
            <a:picLocks noChangeAspect="1"/>
          </p:cNvPicPr>
          <p:nvPr/>
        </p:nvPicPr>
        <p:blipFill>
          <a:blip r:embed="rId3"/>
          <a:stretch>
            <a:fillRect/>
          </a:stretch>
        </p:blipFill>
        <p:spPr>
          <a:xfrm>
            <a:off x="523875" y="1518354"/>
            <a:ext cx="8096250" cy="1821041"/>
          </a:xfrm>
          <a:prstGeom prst="rect">
            <a:avLst/>
          </a:prstGeom>
        </p:spPr>
      </p:pic>
    </p:spTree>
    <p:extLst>
      <p:ext uri="{BB962C8B-B14F-4D97-AF65-F5344CB8AC3E}">
        <p14:creationId xmlns:p14="http://schemas.microsoft.com/office/powerpoint/2010/main" xmlns="" val="121407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3AB6F581-D019-4446-9B09-873266454C32}"/>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Working Demonstration</a:t>
            </a:r>
          </a:p>
        </p:txBody>
      </p:sp>
      <p:sp>
        <p:nvSpPr>
          <p:cNvPr id="2" name="Rectangle 1">
            <a:extLst>
              <a:ext uri="{FF2B5EF4-FFF2-40B4-BE49-F238E27FC236}">
                <a16:creationId xmlns:a16="http://schemas.microsoft.com/office/drawing/2014/main" xmlns="" id="{D9B7B2C0-778B-420B-9AC8-791FED994D01}"/>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xmlns="" id="{B5A4A980-7EF8-4344-9A96-EEAF374C7B47}"/>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65 seconds</a:t>
            </a:r>
          </a:p>
        </p:txBody>
      </p:sp>
      <p:sp>
        <p:nvSpPr>
          <p:cNvPr id="4" name="Rectangle 3">
            <a:extLst>
              <a:ext uri="{FF2B5EF4-FFF2-40B4-BE49-F238E27FC236}">
                <a16:creationId xmlns:a16="http://schemas.microsoft.com/office/drawing/2014/main" xmlns="" id="{D61DD762-53EC-4E66-840B-4BC66B5F54C7}"/>
              </a:ext>
            </a:extLst>
          </p:cNvPr>
          <p:cNvSpPr>
            <a:spLocks noGrp="1"/>
          </p:cNvSpPr>
          <p:nvPr/>
        </p:nvSpPr>
        <p:spPr>
          <a:xfrm>
            <a:off x="523875" y="1428750"/>
            <a:ext cx="8096250" cy="333375"/>
          </a:xfrm>
          <a:prstGeom prst="rect">
            <a:avLst/>
          </a:prstGeom>
          <a:noFill/>
          <a:ln w="0">
            <a:noFill/>
            <a:prstDash val="solid"/>
          </a:ln>
        </p:spPr>
        <p:txBody>
          <a:bodyPr/>
          <a:lstStyle>
            <a:defPPr>
              <a:defRPr sz="1875" b="1">
                <a:solidFill>
                  <a:srgbClr val="202020"/>
                </a:solidFill>
                <a:latin typeface="Arial"/>
                <a:ea typeface="Arial"/>
                <a:cs typeface="Arial"/>
              </a:defRPr>
            </a:defPPr>
          </a:lstStyle>
          <a:p>
            <a:pPr>
              <a:defRPr sz="1875" b="1">
                <a:solidFill>
                  <a:srgbClr val="202020"/>
                </a:solidFill>
                <a:latin typeface="Arial"/>
                <a:ea typeface="Arial"/>
                <a:cs typeface="Arial"/>
              </a:defRPr>
            </a:pPr>
            <a:r>
              <a:rPr sz="1875" b="1">
                <a:solidFill>
                  <a:srgbClr val="202020"/>
                </a:solidFill>
                <a:latin typeface="Arial"/>
                <a:ea typeface="Arial"/>
                <a:cs typeface="Arial"/>
              </a:rPr>
              <a:t>Function to demonstrate</a:t>
            </a:r>
          </a:p>
        </p:txBody>
      </p:sp>
      <p:sp>
        <p:nvSpPr>
          <p:cNvPr id="5" name="Rectangle 4">
            <a:extLst>
              <a:ext uri="{FF2B5EF4-FFF2-40B4-BE49-F238E27FC236}">
                <a16:creationId xmlns:a16="http://schemas.microsoft.com/office/drawing/2014/main" xmlns="" id="{E7D0DFDA-9D38-4110-9E96-AA8B9885772D}"/>
              </a:ext>
            </a:extLst>
          </p:cNvPr>
          <p:cNvSpPr>
            <a:spLocks noGrp="1"/>
          </p:cNvSpPr>
          <p:nvPr/>
        </p:nvSpPr>
        <p:spPr>
          <a:xfrm>
            <a:off x="523875" y="1952625"/>
            <a:ext cx="8096250" cy="762000"/>
          </a:xfrm>
          <a:prstGeom prst="rect">
            <a:avLst/>
          </a:prstGeom>
          <a:noFill/>
          <a:ln w="0">
            <a:noFill/>
            <a:prstDash val="solid"/>
          </a:ln>
        </p:spPr>
        <p:txBody>
          <a:bodyPr/>
          <a:lstStyle>
            <a:defPPr>
              <a:defRPr sz="1950" b="0">
                <a:solidFill>
                  <a:srgbClr val="202020"/>
                </a:solidFill>
                <a:latin typeface="Arial"/>
                <a:ea typeface="Arial"/>
                <a:cs typeface="Arial"/>
              </a:defRPr>
            </a:defPPr>
          </a:lstStyle>
          <a:p>
            <a:pPr>
              <a:defRPr sz="1950" b="0">
                <a:solidFill>
                  <a:srgbClr val="202020"/>
                </a:solidFill>
                <a:latin typeface="Arial"/>
                <a:ea typeface="Arial"/>
                <a:cs typeface="Arial"/>
              </a:defRPr>
            </a:pPr>
            <a:r>
              <a:rPr sz="1950" b="0">
                <a:solidFill>
                  <a:srgbClr val="202020"/>
                </a:solidFill>
                <a:latin typeface="Arial"/>
                <a:ea typeface="Arial"/>
                <a:cs typeface="Arial"/>
              </a:rPr>
              <a:t>Detect and correct errors in typed data and in a file sent over noisy UDP</a:t>
            </a:r>
          </a:p>
        </p:txBody>
      </p:sp>
      <p:sp>
        <p:nvSpPr>
          <p:cNvPr id="6" name="Rectangle 5">
            <a:extLst>
              <a:ext uri="{FF2B5EF4-FFF2-40B4-BE49-F238E27FC236}">
                <a16:creationId xmlns:a16="http://schemas.microsoft.com/office/drawing/2014/main" xmlns="" id="{A981F47A-2B1A-4750-8E3C-EC82A2551A9A}"/>
              </a:ext>
            </a:extLst>
          </p:cNvPr>
          <p:cNvSpPr>
            <a:spLocks noGrp="1"/>
          </p:cNvSpPr>
          <p:nvPr/>
        </p:nvSpPr>
        <p:spPr>
          <a:xfrm>
            <a:off x="523875" y="3190875"/>
            <a:ext cx="8096250" cy="1524000"/>
          </a:xfrm>
          <a:prstGeom prst="rect">
            <a:avLst/>
          </a:prstGeom>
          <a:noFill/>
          <a:ln w="0">
            <a:noFill/>
            <a:prstDash val="solid"/>
          </a:ln>
        </p:spPr>
        <p:txBody>
          <a:bodyPr/>
          <a:lstStyle>
            <a:defPPr>
              <a:defRPr sz="1950" b="0">
                <a:solidFill>
                  <a:srgbClr val="202020"/>
                </a:solidFill>
                <a:latin typeface="Arial"/>
                <a:ea typeface="Arial"/>
                <a:cs typeface="Arial"/>
              </a:defRPr>
            </a:defPPr>
          </a:lstStyle>
          <a:p>
            <a:pPr>
              <a:defRPr sz="1950" b="0">
                <a:solidFill>
                  <a:srgbClr val="202020"/>
                </a:solidFill>
                <a:latin typeface="Arial"/>
                <a:ea typeface="Arial"/>
                <a:cs typeface="Arial"/>
              </a:defRPr>
            </a:pPr>
            <a:r>
              <a:rPr sz="1950" b="0">
                <a:solidFill>
                  <a:srgbClr val="202020"/>
                </a:solidFill>
                <a:latin typeface="Arial"/>
                <a:ea typeface="Arial"/>
                <a:cs typeface="Arial"/>
              </a:rPr>
              <a:t>1. Start edc_receiver and edc_channel --ber 3e-4</a:t>
            </a:r>
          </a:p>
          <a:p>
            <a:pPr>
              <a:defRPr sz="1950" b="0">
                <a:solidFill>
                  <a:srgbClr val="202020"/>
                </a:solidFill>
                <a:latin typeface="Arial"/>
                <a:ea typeface="Arial"/>
                <a:cs typeface="Arial"/>
              </a:defRPr>
            </a:pPr>
            <a:r>
              <a:rPr sz="1950" b="0">
                <a:solidFill>
                  <a:srgbClr val="202020"/>
                </a:solidFill>
                <a:latin typeface="Arial"/>
                <a:ea typeface="Arial"/>
                <a:cs typeface="Arial"/>
              </a:rPr>
              <a:t>2. edc_toolkit inject "HELLO" --flip 9, then edc_sender with crc32</a:t>
            </a:r>
          </a:p>
          <a:p>
            <a:pPr>
              <a:defRPr sz="1950" b="0">
                <a:solidFill>
                  <a:srgbClr val="202020"/>
                </a:solidFill>
                <a:latin typeface="Arial"/>
                <a:ea typeface="Arial"/>
                <a:cs typeface="Arial"/>
              </a:defRPr>
            </a:pPr>
            <a:r>
              <a:rPr sz="1950" b="0">
                <a:solidFill>
                  <a:srgbClr val="202020"/>
                </a:solidFill>
                <a:latin typeface="Arial"/>
                <a:ea typeface="Arial"/>
                <a:cs typeface="Arial"/>
              </a:rPr>
              <a:t>3. Show NAK, retransmissions, SHA-256 check and frames in Wireshark</a:t>
            </a:r>
          </a:p>
        </p:txBody>
      </p:sp>
      <p:sp>
        <p:nvSpPr>
          <p:cNvPr id="7" name="Rectangle 6">
            <a:extLst>
              <a:ext uri="{FF2B5EF4-FFF2-40B4-BE49-F238E27FC236}">
                <a16:creationId xmlns:a16="http://schemas.microsoft.com/office/drawing/2014/main" xmlns="" id="{9FF31393-1A58-4193-B896-64977C05E623}"/>
              </a:ext>
            </a:extLst>
          </p:cNvPr>
          <p:cNvSpPr>
            <a:spLocks noGrp="1"/>
          </p:cNvSpPr>
          <p:nvPr/>
        </p:nvSpPr>
        <p:spPr>
          <a:xfrm>
            <a:off x="523875" y="5286375"/>
            <a:ext cx="8096250" cy="666750"/>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defRPr sz="1800" b="0">
                <a:solidFill>
                  <a:srgbClr val="202020"/>
                </a:solidFill>
                <a:latin typeface="Arial"/>
                <a:ea typeface="Arial"/>
                <a:cs typeface="Arial"/>
              </a:defRPr>
            </a:pPr>
            <a:r>
              <a:rPr sz="1800" b="0">
                <a:solidFill>
                  <a:srgbClr val="202020"/>
                </a:solidFill>
                <a:latin typeface="Arial"/>
                <a:ea typeface="Arial"/>
                <a:cs typeface="Arial"/>
              </a:rPr>
              <a:t>Success criterion: errors detected or corrected; received file identical</a:t>
            </a:r>
          </a:p>
        </p:txBody>
      </p:sp>
    </p:spTree>
    <p:extLst>
      <p:ext uri="{BB962C8B-B14F-4D97-AF65-F5344CB8AC3E}">
        <p14:creationId xmlns:p14="http://schemas.microsoft.com/office/powerpoint/2010/main" xmlns="" val="123285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xmlns="" id="{D7465B80-86A3-4988-8BBF-D6C889F03087}"/>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lgn="ctr">
              <a:defRPr sz="2550" b="1">
                <a:solidFill>
                  <a:srgbClr val="20375C"/>
                </a:solidFill>
                <a:latin typeface="Arial"/>
                <a:ea typeface="Arial"/>
                <a:cs typeface="Arial"/>
              </a:defRPr>
            </a:pPr>
            <a:r>
              <a:rPr sz="2550" b="1" dirty="0">
                <a:solidFill>
                  <a:srgbClr val="20375C"/>
                </a:solidFill>
                <a:latin typeface="Arial"/>
                <a:ea typeface="Arial"/>
                <a:cs typeface="Arial"/>
              </a:rPr>
              <a:t>Conclusion and Contributions</a:t>
            </a:r>
          </a:p>
        </p:txBody>
      </p:sp>
      <p:sp>
        <p:nvSpPr>
          <p:cNvPr id="2" name="Rectangle 1">
            <a:extLst>
              <a:ext uri="{FF2B5EF4-FFF2-40B4-BE49-F238E27FC236}">
                <a16:creationId xmlns:a16="http://schemas.microsoft.com/office/drawing/2014/main" xmlns="" id="{D35C3C1D-1A36-4479-B48D-72AED4C5126A}"/>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xmlns="" id="{83033241-AA33-4209-9B79-B06A3DA63F84}"/>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30 seconds</a:t>
            </a:r>
          </a:p>
        </p:txBody>
      </p:sp>
      <p:sp>
        <p:nvSpPr>
          <p:cNvPr id="4" name="Rectangle 3">
            <a:extLst>
              <a:ext uri="{FF2B5EF4-FFF2-40B4-BE49-F238E27FC236}">
                <a16:creationId xmlns:a16="http://schemas.microsoft.com/office/drawing/2014/main" xmlns="" id="{5C4D24D5-8342-497C-8F27-E269BD6DACDB}"/>
              </a:ext>
            </a:extLst>
          </p:cNvPr>
          <p:cNvSpPr>
            <a:spLocks noGrp="1"/>
          </p:cNvSpPr>
          <p:nvPr/>
        </p:nvSpPr>
        <p:spPr>
          <a:xfrm>
            <a:off x="523875" y="1381125"/>
            <a:ext cx="8096250" cy="2000250"/>
          </a:xfrm>
          <a:prstGeom prst="rect">
            <a:avLst/>
          </a:prstGeom>
          <a:noFill/>
          <a:ln w="0">
            <a:noFill/>
            <a:prstDash val="solid"/>
          </a:ln>
        </p:spPr>
        <p:txBody>
          <a:bodyPr/>
          <a:lstStyle>
            <a:defPPr>
              <a:defRPr sz="1875" b="0">
                <a:solidFill>
                  <a:srgbClr val="202020"/>
                </a:solidFill>
                <a:latin typeface="Arial"/>
                <a:ea typeface="Arial"/>
                <a:cs typeface="Arial"/>
              </a:defRPr>
            </a:defPPr>
          </a:lstStyle>
          <a:p>
            <a:pPr>
              <a:defRPr sz="1875" b="0">
                <a:solidFill>
                  <a:srgbClr val="202020"/>
                </a:solidFill>
                <a:latin typeface="Arial"/>
                <a:ea typeface="Arial"/>
                <a:cs typeface="Arial"/>
              </a:defRPr>
            </a:pPr>
            <a:r>
              <a:rPr sz="1875" b="0">
                <a:solidFill>
                  <a:srgbClr val="202020"/>
                </a:solidFill>
                <a:latin typeface="Arial"/>
                <a:ea typeface="Arial"/>
                <a:cs typeface="Arial"/>
              </a:rPr>
              <a:t>Outcome: 9 codes, interactive toolkit, UDP transfer; 24/24 tests passed</a:t>
            </a:r>
          </a:p>
          <a:p>
            <a:pPr>
              <a:defRPr sz="1875" b="0">
                <a:solidFill>
                  <a:srgbClr val="202020"/>
                </a:solidFill>
                <a:latin typeface="Arial"/>
                <a:ea typeface="Arial"/>
                <a:cs typeface="Arial"/>
              </a:defRPr>
            </a:pPr>
            <a:r>
              <a:rPr sz="1875" b="0">
                <a:solidFill>
                  <a:srgbClr val="202020"/>
                </a:solidFill>
                <a:latin typeface="Arial"/>
                <a:ea typeface="Arial"/>
                <a:cs typeface="Arial"/>
              </a:rPr>
              <a:t>Application: choosing a code and frame size for a noisy link</a:t>
            </a:r>
          </a:p>
          <a:p>
            <a:pPr>
              <a:defRPr sz="1875" b="0">
                <a:solidFill>
                  <a:srgbClr val="202020"/>
                </a:solidFill>
                <a:latin typeface="Arial"/>
                <a:ea typeface="Arial"/>
                <a:cs typeface="Arial"/>
              </a:defRPr>
            </a:pPr>
            <a:r>
              <a:rPr sz="1875" b="0">
                <a:solidFill>
                  <a:srgbClr val="202020"/>
                </a:solidFill>
                <a:latin typeface="Arial"/>
                <a:ea typeface="Arial"/>
                <a:cs typeface="Arial"/>
              </a:rPr>
              <a:t>Limitation: errors are emulated; stop-and-wait is slow on long links</a:t>
            </a:r>
          </a:p>
          <a:p>
            <a:pPr>
              <a:defRPr sz="1875" b="0">
                <a:solidFill>
                  <a:srgbClr val="202020"/>
                </a:solidFill>
                <a:latin typeface="Arial"/>
                <a:ea typeface="Arial"/>
                <a:cs typeface="Arial"/>
              </a:defRPr>
            </a:pPr>
            <a:r>
              <a:rPr sz="1875" b="0">
                <a:solidFill>
                  <a:srgbClr val="202020"/>
                </a:solidFill>
                <a:latin typeface="Arial"/>
                <a:ea typeface="Arial"/>
                <a:cs typeface="Arial"/>
              </a:rPr>
              <a:t>Future scope: hybrid ARQ (SEC-DED + CRC-32) with a sliding window</a:t>
            </a:r>
          </a:p>
        </p:txBody>
      </p:sp>
      <p:sp>
        <p:nvSpPr>
          <p:cNvPr id="5" name="Rectangle 4">
            <a:extLst>
              <a:ext uri="{FF2B5EF4-FFF2-40B4-BE49-F238E27FC236}">
                <a16:creationId xmlns:a16="http://schemas.microsoft.com/office/drawing/2014/main" xmlns="" id="{8A899F11-8A11-408E-A37B-1864BB168263}"/>
              </a:ext>
            </a:extLst>
          </p:cNvPr>
          <p:cNvSpPr>
            <a:spLocks noGrp="1"/>
          </p:cNvSpPr>
          <p:nvPr/>
        </p:nvSpPr>
        <p:spPr>
          <a:xfrm>
            <a:off x="523875" y="3810000"/>
            <a:ext cx="8096250" cy="1000125"/>
          </a:xfrm>
          <a:prstGeom prst="rect">
            <a:avLst/>
          </a:prstGeom>
          <a:noFill/>
          <a:ln w="0">
            <a:noFill/>
            <a:prstDash val="solid"/>
          </a:ln>
        </p:spPr>
        <p:txBody>
          <a:bodyPr/>
          <a:lstStyle>
            <a:defPPr>
              <a:defRPr sz="1650" b="0">
                <a:solidFill>
                  <a:srgbClr val="202020"/>
                </a:solidFill>
                <a:latin typeface="Arial"/>
                <a:ea typeface="Arial"/>
                <a:cs typeface="Arial"/>
              </a:defRPr>
            </a:defPPr>
          </a:lstStyle>
          <a:p>
            <a:pPr>
              <a:defRPr sz="1650" b="0">
                <a:solidFill>
                  <a:srgbClr val="202020"/>
                </a:solidFill>
                <a:latin typeface="Arial"/>
                <a:ea typeface="Arial"/>
                <a:cs typeface="Arial"/>
              </a:defRPr>
            </a:pPr>
            <a:r>
              <a:rPr sz="1650" b="0" dirty="0">
                <a:solidFill>
                  <a:srgbClr val="202020"/>
                </a:solidFill>
                <a:latin typeface="Arial"/>
                <a:ea typeface="Arial"/>
                <a:cs typeface="Arial"/>
              </a:rPr>
              <a:t>Team contributions: [Student 1]: codes, tests   [Student 2]: toolkit, error models</a:t>
            </a:r>
          </a:p>
          <a:p>
            <a:pPr>
              <a:defRPr sz="1650" b="0">
                <a:solidFill>
                  <a:srgbClr val="202020"/>
                </a:solidFill>
                <a:latin typeface="Arial"/>
                <a:ea typeface="Arial"/>
                <a:cs typeface="Arial"/>
              </a:defRPr>
            </a:pPr>
            <a:r>
              <a:rPr sz="1650" b="0" dirty="0">
                <a:solidFill>
                  <a:srgbClr val="202020"/>
                </a:solidFill>
                <a:latin typeface="Arial"/>
                <a:ea typeface="Arial"/>
                <a:cs typeface="Arial"/>
              </a:rPr>
              <a:t>[Student 3]: frames, ARQ, channel, Wireshark   [Student 4]: experiments, report</a:t>
            </a:r>
          </a:p>
        </p:txBody>
      </p:sp>
      <p:sp>
        <p:nvSpPr>
          <p:cNvPr id="6" name="Rectangle 5">
            <a:extLst>
              <a:ext uri="{FF2B5EF4-FFF2-40B4-BE49-F238E27FC236}">
                <a16:creationId xmlns:a16="http://schemas.microsoft.com/office/drawing/2014/main" xmlns="" id="{2F10ECB7-8E0C-4D51-855A-3F114DB4BE40}"/>
              </a:ext>
            </a:extLst>
          </p:cNvPr>
          <p:cNvSpPr>
            <a:spLocks noGrp="1"/>
          </p:cNvSpPr>
          <p:nvPr/>
        </p:nvSpPr>
        <p:spPr>
          <a:xfrm>
            <a:off x="523875" y="5381625"/>
            <a:ext cx="8096250" cy="523875"/>
          </a:xfrm>
          <a:prstGeom prst="rect">
            <a:avLst/>
          </a:prstGeom>
          <a:noFill/>
          <a:ln w="0">
            <a:noFill/>
            <a:prstDash val="solid"/>
          </a:ln>
        </p:spPr>
        <p:txBody>
          <a:bodyPr/>
          <a:lstStyle>
            <a:defPPr>
              <a:defRPr sz="1575" b="0">
                <a:solidFill>
                  <a:srgbClr val="202020"/>
                </a:solidFill>
                <a:latin typeface="Arial"/>
                <a:ea typeface="Arial"/>
                <a:cs typeface="Arial"/>
              </a:defRPr>
            </a:defPPr>
          </a:lstStyle>
          <a:p>
            <a:pPr>
              <a:defRPr sz="1575" b="0">
                <a:solidFill>
                  <a:srgbClr val="202020"/>
                </a:solidFill>
                <a:latin typeface="Arial"/>
                <a:ea typeface="Arial"/>
                <a:cs typeface="Arial"/>
              </a:defRPr>
            </a:pPr>
            <a:r>
              <a:rPr sz="1575" b="0">
                <a:solidFill>
                  <a:srgbClr val="202020"/>
                </a:solidFill>
                <a:latin typeface="Arial"/>
                <a:ea typeface="Arial"/>
                <a:cs typeface="Arial"/>
              </a:rPr>
              <a:t>AI use: Claude (Anthropic) helped draft code and text; all results come from our own runs</a:t>
            </a:r>
          </a:p>
        </p:txBody>
      </p:sp>
    </p:spTree>
    <p:extLst>
      <p:ext uri="{BB962C8B-B14F-4D97-AF65-F5344CB8AC3E}">
        <p14:creationId xmlns:p14="http://schemas.microsoft.com/office/powerpoint/2010/main" xmlns="" val="2125721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xmlns="" id="{2B87E46F-E649-4EC2-BE15-E3DC1B512D09}"/>
              </a:ext>
            </a:extLst>
          </p:cNvPr>
          <p:cNvSpPr>
            <a:spLocks noGrp="1"/>
          </p:cNvSpPr>
          <p:nvPr/>
        </p:nvSpPr>
        <p:spPr>
          <a:xfrm>
            <a:off x="523875" y="400050"/>
            <a:ext cx="8096250" cy="666750"/>
          </a:xfrm>
          <a:prstGeom prst="rect">
            <a:avLst/>
          </a:prstGeom>
          <a:noFill/>
          <a:ln w="0">
            <a:noFill/>
            <a:prstDash val="solid"/>
          </a:ln>
        </p:spPr>
        <p:txBody>
          <a:bodyPr/>
          <a:lstStyle>
            <a:defPPr>
              <a:defRPr sz="2550" b="1">
                <a:solidFill>
                  <a:srgbClr val="20375C"/>
                </a:solidFill>
                <a:latin typeface="Arial"/>
                <a:ea typeface="Arial"/>
                <a:cs typeface="Arial"/>
              </a:defRPr>
            </a:defPPr>
          </a:lstStyle>
          <a:p>
            <a:pPr>
              <a:defRPr sz="2550" b="1">
                <a:solidFill>
                  <a:srgbClr val="20375C"/>
                </a:solidFill>
                <a:latin typeface="Arial"/>
                <a:ea typeface="Arial"/>
                <a:cs typeface="Arial"/>
              </a:defRPr>
            </a:pPr>
            <a:r>
              <a:rPr sz="2550" b="1">
                <a:solidFill>
                  <a:srgbClr val="20375C"/>
                </a:solidFill>
                <a:latin typeface="Arial"/>
                <a:ea typeface="Arial"/>
                <a:cs typeface="Arial"/>
              </a:rPr>
              <a:t>References</a:t>
            </a:r>
          </a:p>
        </p:txBody>
      </p:sp>
      <p:sp>
        <p:nvSpPr>
          <p:cNvPr id="2" name="Rectangle 1">
            <a:extLst>
              <a:ext uri="{FF2B5EF4-FFF2-40B4-BE49-F238E27FC236}">
                <a16:creationId xmlns:a16="http://schemas.microsoft.com/office/drawing/2014/main" xmlns="" id="{D28BC680-DAE1-4C4A-B29D-BFCE9D74EB15}"/>
              </a:ext>
            </a:extLst>
          </p:cNvPr>
          <p:cNvSpPr>
            <a:spLocks noGrp="1"/>
          </p:cNvSpPr>
          <p:nvPr/>
        </p:nvSpPr>
        <p:spPr>
          <a:xfrm>
            <a:off x="523875" y="6315075"/>
            <a:ext cx="59055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Computer Networks Laboratory   CSE20110</a:t>
            </a:r>
          </a:p>
        </p:txBody>
      </p:sp>
      <p:sp>
        <p:nvSpPr>
          <p:cNvPr id="3" name="Rectangle 2">
            <a:extLst>
              <a:ext uri="{FF2B5EF4-FFF2-40B4-BE49-F238E27FC236}">
                <a16:creationId xmlns:a16="http://schemas.microsoft.com/office/drawing/2014/main" xmlns="" id="{52937739-9035-4330-B6E1-0CD991043B34}"/>
              </a:ext>
            </a:extLst>
          </p:cNvPr>
          <p:cNvSpPr>
            <a:spLocks noGrp="1"/>
          </p:cNvSpPr>
          <p:nvPr/>
        </p:nvSpPr>
        <p:spPr>
          <a:xfrm>
            <a:off x="6667500" y="6315075"/>
            <a:ext cx="1905000" cy="238125"/>
          </a:xfrm>
          <a:prstGeom prst="rect">
            <a:avLst/>
          </a:prstGeom>
          <a:noFill/>
          <a:ln w="0">
            <a:noFill/>
            <a:prstDash val="solid"/>
          </a:ln>
        </p:spPr>
        <p:txBody>
          <a:bodyPr/>
          <a:lstStyle>
            <a:defPPr>
              <a:defRPr sz="1125" b="0">
                <a:solidFill>
                  <a:srgbClr val="555555"/>
                </a:solidFill>
                <a:latin typeface="Arial"/>
                <a:ea typeface="Arial"/>
                <a:cs typeface="Arial"/>
              </a:defRPr>
            </a:defPPr>
          </a:lstStyle>
          <a:p>
            <a:pPr>
              <a:defRPr sz="1125" b="0">
                <a:solidFill>
                  <a:srgbClr val="555555"/>
                </a:solidFill>
                <a:latin typeface="Arial"/>
                <a:ea typeface="Arial"/>
                <a:cs typeface="Arial"/>
              </a:defRPr>
            </a:pPr>
            <a:r>
              <a:rPr sz="1125" b="0">
                <a:solidFill>
                  <a:srgbClr val="555555"/>
                </a:solidFill>
                <a:latin typeface="Arial"/>
                <a:ea typeface="Arial"/>
                <a:cs typeface="Arial"/>
              </a:rPr>
              <a:t>Backup slide</a:t>
            </a:r>
          </a:p>
        </p:txBody>
      </p:sp>
      <p:sp>
        <p:nvSpPr>
          <p:cNvPr id="4" name="Rectangle 3">
            <a:extLst>
              <a:ext uri="{FF2B5EF4-FFF2-40B4-BE49-F238E27FC236}">
                <a16:creationId xmlns:a16="http://schemas.microsoft.com/office/drawing/2014/main" xmlns="" id="{F08EAB2A-6F3A-412A-8E97-83E166768C45}"/>
              </a:ext>
            </a:extLst>
          </p:cNvPr>
          <p:cNvSpPr>
            <a:spLocks noGrp="1"/>
          </p:cNvSpPr>
          <p:nvPr/>
        </p:nvSpPr>
        <p:spPr>
          <a:xfrm>
            <a:off x="523875" y="1524000"/>
            <a:ext cx="8096250" cy="3048000"/>
          </a:xfrm>
          <a:prstGeom prst="rect">
            <a:avLst/>
          </a:prstGeom>
          <a:noFill/>
          <a:ln w="0">
            <a:noFill/>
            <a:prstDash val="solid"/>
          </a:ln>
        </p:spPr>
        <p:txBody>
          <a:bodyPr/>
          <a:lstStyle>
            <a:defPPr>
              <a:defRPr sz="1800" b="0">
                <a:solidFill>
                  <a:srgbClr val="202020"/>
                </a:solidFill>
                <a:latin typeface="Arial"/>
                <a:ea typeface="Arial"/>
                <a:cs typeface="Arial"/>
              </a:defRPr>
            </a:defPPr>
          </a:lstStyle>
          <a:p>
            <a:pPr>
              <a:defRPr sz="1800" b="0">
                <a:solidFill>
                  <a:srgbClr val="202020"/>
                </a:solidFill>
                <a:latin typeface="Arial"/>
                <a:ea typeface="Arial"/>
                <a:cs typeface="Arial"/>
              </a:defRPr>
            </a:pPr>
            <a:r>
              <a:rPr sz="1800" b="0">
                <a:solidFill>
                  <a:srgbClr val="202020"/>
                </a:solidFill>
                <a:latin typeface="Arial"/>
                <a:ea typeface="Arial"/>
                <a:cs typeface="Arial"/>
              </a:rPr>
              <a:t>[1] R. Braden, D. Borman, C. Partridge, "Computing the Internet Checksum," RFC 1071, 1988.</a:t>
            </a:r>
          </a:p>
          <a:p>
            <a:endParaRPr sz="1800" b="0">
              <a:solidFill>
                <a:srgbClr val="202020"/>
              </a:solidFill>
              <a:latin typeface="Arial"/>
              <a:ea typeface="Arial"/>
              <a:cs typeface="Arial"/>
            </a:endParaRPr>
          </a:p>
          <a:p>
            <a:pPr>
              <a:defRPr sz="1800" b="0">
                <a:solidFill>
                  <a:srgbClr val="202020"/>
                </a:solidFill>
                <a:latin typeface="Arial"/>
                <a:ea typeface="Arial"/>
                <a:cs typeface="Arial"/>
              </a:defRPr>
            </a:pPr>
            <a:r>
              <a:rPr sz="1800" b="0">
                <a:solidFill>
                  <a:srgbClr val="202020"/>
                </a:solidFill>
                <a:latin typeface="Arial"/>
                <a:ea typeface="Arial"/>
                <a:cs typeface="Arial"/>
              </a:rPr>
              <a:t>[2] W. W. Peterson, D. T. Brown, "Cyclic codes for error detection," Proc. IRE, 1961.</a:t>
            </a:r>
          </a:p>
          <a:p>
            <a:endParaRPr sz="1800" b="0">
              <a:solidFill>
                <a:srgbClr val="202020"/>
              </a:solidFill>
              <a:latin typeface="Arial"/>
              <a:ea typeface="Arial"/>
              <a:cs typeface="Arial"/>
            </a:endParaRPr>
          </a:p>
          <a:p>
            <a:pPr>
              <a:defRPr sz="1800" b="0">
                <a:solidFill>
                  <a:srgbClr val="202020"/>
                </a:solidFill>
                <a:latin typeface="Arial"/>
                <a:ea typeface="Arial"/>
                <a:cs typeface="Arial"/>
              </a:defRPr>
            </a:pPr>
            <a:r>
              <a:rPr sz="1800" b="0">
                <a:solidFill>
                  <a:srgbClr val="202020"/>
                </a:solidFill>
                <a:latin typeface="Arial"/>
                <a:ea typeface="Arial"/>
                <a:cs typeface="Arial"/>
              </a:rPr>
              <a:t>[3] R. W. Hamming, "Error detecting and error correcting codes," Bell Syst. Tech. J., 1950.</a:t>
            </a:r>
          </a:p>
          <a:p>
            <a:endParaRPr sz="1800" b="0">
              <a:solidFill>
                <a:srgbClr val="202020"/>
              </a:solidFill>
              <a:latin typeface="Arial"/>
              <a:ea typeface="Arial"/>
              <a:cs typeface="Arial"/>
            </a:endParaRPr>
          </a:p>
          <a:p>
            <a:pPr>
              <a:defRPr sz="1800" b="0">
                <a:solidFill>
                  <a:srgbClr val="202020"/>
                </a:solidFill>
                <a:latin typeface="Arial"/>
                <a:ea typeface="Arial"/>
                <a:cs typeface="Arial"/>
              </a:defRPr>
            </a:pPr>
            <a:r>
              <a:rPr sz="1800" b="0">
                <a:solidFill>
                  <a:srgbClr val="202020"/>
                </a:solidFill>
                <a:latin typeface="Arial"/>
                <a:ea typeface="Arial"/>
                <a:cs typeface="Arial"/>
              </a:rPr>
              <a:t>[4] A. S. Tanenbaum et al., Computer Networks, 6th ed., Pearson, 2021.</a:t>
            </a:r>
          </a:p>
        </p:txBody>
      </p:sp>
      <p:sp>
        <p:nvSpPr>
          <p:cNvPr id="5" name="Rectangle 4">
            <a:extLst>
              <a:ext uri="{FF2B5EF4-FFF2-40B4-BE49-F238E27FC236}">
                <a16:creationId xmlns:a16="http://schemas.microsoft.com/office/drawing/2014/main" xmlns="" id="{63B570D7-9BBD-423B-A711-D477799851EE}"/>
              </a:ext>
            </a:extLst>
          </p:cNvPr>
          <p:cNvSpPr>
            <a:spLocks noGrp="1"/>
          </p:cNvSpPr>
          <p:nvPr/>
        </p:nvSpPr>
        <p:spPr>
          <a:xfrm>
            <a:off x="523875" y="5143500"/>
            <a:ext cx="8096250" cy="762000"/>
          </a:xfrm>
          <a:prstGeom prst="rect">
            <a:avLst/>
          </a:prstGeom>
          <a:noFill/>
          <a:ln w="0">
            <a:noFill/>
            <a:prstDash val="solid"/>
          </a:ln>
        </p:spPr>
        <p:txBody>
          <a:bodyPr/>
          <a:lstStyle>
            <a:defPPr>
              <a:defRPr sz="1575" b="0">
                <a:solidFill>
                  <a:srgbClr val="202020"/>
                </a:solidFill>
                <a:latin typeface="Arial"/>
                <a:ea typeface="Arial"/>
                <a:cs typeface="Arial"/>
              </a:defRPr>
            </a:defPPr>
          </a:lstStyle>
          <a:p>
            <a:pPr>
              <a:defRPr sz="1575" b="0">
                <a:solidFill>
                  <a:srgbClr val="202020"/>
                </a:solidFill>
                <a:latin typeface="Arial"/>
                <a:ea typeface="Arial"/>
                <a:cs typeface="Arial"/>
              </a:defRPr>
            </a:pPr>
            <a:r>
              <a:rPr sz="1575" b="0">
                <a:solidFill>
                  <a:srgbClr val="202020"/>
                </a:solidFill>
                <a:latin typeface="Arial"/>
                <a:ea typeface="Arial"/>
                <a:cs typeface="Arial"/>
              </a:rPr>
              <a:t>Use IEEE-style numbered references and cite sources on relevant slides.</a:t>
            </a:r>
          </a:p>
        </p:txBody>
      </p:sp>
    </p:spTree>
    <p:extLst>
      <p:ext uri="{BB962C8B-B14F-4D97-AF65-F5344CB8AC3E}">
        <p14:creationId xmlns:p14="http://schemas.microsoft.com/office/powerpoint/2010/main" xmlns="" val="139954670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1129</Words>
  <Application>Microsoft Office PowerPoint</Application>
  <DocSecurity>0</DocSecurity>
  <PresentationFormat>On-screen Show (4:3)</PresentationFormat>
  <Paragraphs>78</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ChatGPT</vt:lpstr>
      <vt:lpstr>Slide 1</vt:lpstr>
      <vt:lpstr>Slide 2</vt:lpstr>
      <vt:lpstr>Slide 3</vt:lpstr>
      <vt:lpstr>Slide 4</vt:lpstr>
      <vt:lpstr>Slide 5</vt:lpstr>
      <vt:lpstr>Slide 6</vt:lpstr>
      <vt:lpstr>Slide 7</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Error Detection and Correction Toolkit</dc:title>
  <dc:creator/>
  <cp:lastModifiedBy>bazinga</cp:lastModifiedBy>
  <cp:revision>2</cp:revision>
  <dcterms:created xsi:type="dcterms:W3CDTF">2026-10-14T10:56:48Z</dcterms:created>
  <dcterms:modified xsi:type="dcterms:W3CDTF">2026-10-23T11:07:50Z</dcterms:modified>
</cp:coreProperties>
</file>